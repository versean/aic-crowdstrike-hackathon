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66" r:id="rId29"/>
    <p:sldId id="259" r:id="rId10"/>
    <p:sldId id="260" r:id="rId11"/>
    <p:sldId id="267" r:id="rId30"/>
    <p:sldId id="268" r:id="rId31"/>
    <p:sldId id="269" r:id="rId32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Work Sans Medium"/>
      <p:regular r:id="rId17"/>
      <p:bold r:id="rId18"/>
      <p:italic r:id="rId19"/>
      <p:boldItalic r:id="rId20"/>
    </p:embeddedFont>
    <p:embeddedFont>
      <p:font typeface="Work Sans"/>
      <p:regular r:id="rId21"/>
      <p:bold r:id="rId22"/>
      <p:italic r:id="rId23"/>
      <p:boldItalic r:id="rId24"/>
    </p:embeddedFont>
    <p:embeddedFont>
      <p:font typeface="Familjen Grotesk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font" Target="fonts/WorkSansMedium-regular.fntdata"/><Relationship Id="rId18" Type="http://schemas.openxmlformats.org/officeDocument/2006/relationships/font" Target="fonts/WorkSansMedium-bold.fntdata"/><Relationship Id="rId19" Type="http://schemas.openxmlformats.org/officeDocument/2006/relationships/font" Target="fonts/WorkSansMedium-italic.fntdata"/><Relationship Id="rId20" Type="http://schemas.openxmlformats.org/officeDocument/2006/relationships/font" Target="fonts/WorkSansMedium-boldItalic.fntdata"/><Relationship Id="rId21" Type="http://schemas.openxmlformats.org/officeDocument/2006/relationships/font" Target="fonts/WorkSans-regular.fntdata"/><Relationship Id="rId22" Type="http://schemas.openxmlformats.org/officeDocument/2006/relationships/font" Target="fonts/WorkSans-bold.fntdata"/><Relationship Id="rId23" Type="http://schemas.openxmlformats.org/officeDocument/2006/relationships/font" Target="fonts/WorkSans-italic.fntdata"/><Relationship Id="rId24" Type="http://schemas.openxmlformats.org/officeDocument/2006/relationships/font" Target="fonts/WorkSans-boldItalic.fntdata"/><Relationship Id="rId25" Type="http://schemas.openxmlformats.org/officeDocument/2006/relationships/font" Target="fonts/FamiljenGrotesk-regular.fntdata"/><Relationship Id="rId26" Type="http://schemas.openxmlformats.org/officeDocument/2006/relationships/font" Target="fonts/FamiljenGrotesk-bold.fntdata"/><Relationship Id="rId27" Type="http://schemas.openxmlformats.org/officeDocument/2006/relationships/font" Target="fonts/FamiljenGrotesk-italic.fntdata"/><Relationship Id="rId28" Type="http://schemas.openxmlformats.org/officeDocument/2006/relationships/font" Target="fonts/FamiljenGrotesk-boldItalic.fntdata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2698a93d5bf152b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h2698a93d5bf152b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2698a93d5bf152bb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h2698a93d5bf152bb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Track 2 · Detect: an AI blue-team assistant that turns millions of security alerts into a few explained incidents.</a:t>
            </a:r>
          </a:p>
          <a:p>
            <a:r>
              <a:t>Input: 2.66M alerts from Wazuh, Suricata and AMiner (AIT-ADS, 8 networks)</a:t>
            </a:r>
          </a:p>
          <a:p>
            <a:r>
              <a:t>Output: ranked incidents with reasons, MITRE stages and an analyst report</a:t>
            </a:r>
          </a:p>
          <a:p>
            <a:r>
              <a:t>Runs locally: no telemetry leaves the SOC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h2698a93d5bf152bb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h2698a93d5bf152bb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Security teams drown in alerts. The real attack is a tiny fraction of the noise.</a:t>
            </a:r>
          </a:p>
          <a:p>
            <a:r>
              <a:t>2.66M alerts; only 450 of 99K alert groups are the attack</a:t>
            </a:r>
          </a:p>
          <a:p>
            <a:r>
              <a:t>Analysts cannot read them all, so real attacks get missed (alert fatigue)</a:t>
            </a:r>
          </a:p>
          <a:p>
            <a:r>
              <a:t>Hackers hide inside this noise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2698a93d5bf152bb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h2698a93d5bf152bb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shrinks 2.66M alerts to 13 ranked incidents and explains each one.</a:t>
            </a:r>
          </a:p>
          <a:p>
            <a:r>
              <a:t>Merge duplicates into 99K meta-alerts</a:t>
            </a:r>
          </a:p>
          <a:p>
            <a:r>
              <a:t>Machine learning flags 451; 91% of them are the real attack</a:t>
            </a:r>
          </a:p>
          <a:p>
            <a:r>
              <a:t>Chain them into 13 incidents: #1 is the real attack in 8 of 8 networks</a:t>
            </a:r>
          </a:p>
          <a:p>
            <a:r>
              <a:t>Threat hunt: unsupervised hunting over raw logs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2698a93d5bf152bb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h2698a93d5bf152bb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model learns what attacker behaviour looks like from context features, computed from past alerts only.</a:t>
            </a:r>
          </a:p>
          <a:p>
            <a:r>
              <a:t>Rarity and novelty: first time a rule, IP or account is seen</a:t>
            </a:r>
          </a:p>
          <a:p>
            <a:r>
              <a:t>Bursts and several sensors firing within 10 minutes</a:t>
            </a:r>
          </a:p>
          <a:p>
            <a:r>
              <a:t>Attacker vs. admin hints in raw logs (www-data, /etc/shadow, scanners)</a:t>
            </a:r>
          </a:p>
          <a:p>
            <a:r>
              <a:t>LightGBM, 5-seed ensemble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2698a93d5bf152bb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h2698a93d5bf152bb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h2698a93d5bf152bb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h2698a93d5bf152bb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Averaged over 8 unseen networks, AlertLens beats common approaches by a wide margin.</a:t>
            </a:r>
          </a:p>
          <a:p>
            <a:r>
              <a:t>PR-AUC 0.96 vs. 0.37 Isolation Forest, 0.14 rarity, 0.01 Wazuh severity</a:t>
            </a:r>
          </a:p>
          <a:p>
            <a:r>
              <a:t>Top 20 alerts: 100% are real attack</a:t>
            </a:r>
          </a:p>
          <a:p>
            <a:r>
              <a:t>Catch 90% of the attack: 64 items to review instead of 12,017</a:t>
            </a:r>
          </a:p>
          <a:p>
            <a:r>
              <a:t>Attack stage predicted correctly 90% of the time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2698a93d5bf152bb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h2698a93d5bf152bb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Analysts review about 64 items instead of 12,000 and still catch 90% of the attack.</a:t>
            </a:r>
          </a:p>
          <a:p>
            <a:r>
              <a:t>Hides 99.91% of benign meta-alerts at 90% attack recall</a:t>
            </a:r>
          </a:p>
          <a:p>
            <a:r>
              <a:t>Normal admin work is explained as benign, not escalated</a:t>
            </a:r>
          </a:p>
          <a:p>
            <a:r>
              <a:t>Private: model and LLM run on-premises, no data leaves the SOC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h2698a93d5bf152bb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h2698a93d5bf152bb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Accurate, explainable, tested on unseen networks, and private.</a:t>
            </a:r>
          </a:p>
          <a:p>
            <a:r>
              <a:t>Behaviour matters: PR-AUC 0.49 from rule meaning alone, 0.96 with context</a:t>
            </a:r>
          </a:p>
          <a:p>
            <a:r>
              <a:t>Every score has reasons, every incident has a story</a:t>
            </a:r>
          </a:p>
          <a:p>
            <a:r>
              <a:t>End to end: raw logs to analyst report in one dashboard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2698a93d5bf152bb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2698a93d5bf152bb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Attack alerts and normal alerts get the same severity levels, so sorting by severity does not find the attack.</a:t>
            </a:r>
          </a:p>
          <a:p>
            <a:r>
              <a:t>Wazuh severity ranks the attack worse than random (ROC-AUC 0.41)</a:t>
            </a:r>
          </a:p>
          <a:p>
            <a:r>
              <a:t>By severity: about 12,017 items to review to catch 90% of the attack</a:t>
            </a:r>
          </a:p>
          <a:p>
            <a:r>
              <a:t>We need context: what is normal for this network?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train on 7 networks and test on the 8th, rotating through all 8 (leave-one-network-out).</a:t>
            </a:r>
          </a:p>
          <a:p>
            <a:r>
              <a:t>Every score comes from a model that never saw that network</a:t>
            </a:r>
          </a:p>
          <a:p>
            <a:r>
              <a:t>Like deploying to a brand-new customer</a:t>
            </a:r>
          </a:p>
          <a:p>
            <a:r>
              <a:t>No peeking at the future: features use only earlier alerts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alert gets plain-English reasons (SHAP): which signals pushed its score up or down.</a:t>
            </a:r>
          </a:p>
          <a:p>
            <a:r>
              <a:t>Example: www-data switching to user gmorgan, a first-time event, is scored as attack</a:t>
            </a:r>
          </a:p>
          <a:p>
            <a:r>
              <a:t>Analysts see why, not just a number</a:t>
            </a:r>
          </a:p>
          <a:p>
            <a:r>
              <a:t>Mark a false positive once and it is suppressed on that host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Flagged alerts are chained into an incident timeline with kill-chain stages and MITRE ATT&amp;CK techniques.</a:t>
            </a:r>
          </a:p>
          <a:p>
            <a:r>
              <a:t>From reconnaissance to webshell upload to privilege escalation</a:t>
            </a:r>
          </a:p>
          <a:p>
            <a:r>
              <a:t>A local LLM (qwen3:14b via Ollama) writes the report and answers questions</a:t>
            </a:r>
          </a:p>
          <a:p>
            <a:r>
              <a:t>Confidence HIGH only with high risk and 2+ attack stages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77" name="Google Shape;177;p35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>
            <p:ph type="title"/>
          </p:nvPr>
        </p:nvSpPr>
        <p:spPr>
          <a:xfrm>
            <a:off x="80350" y="102275"/>
            <a:ext cx="8835000" cy="26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/>
          <p:nvPr>
            <p:ph idx="2" type="pic"/>
          </p:nvPr>
        </p:nvSpPr>
        <p:spPr>
          <a:xfrm>
            <a:off x="0" y="2936025"/>
            <a:ext cx="9144000" cy="13440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35"/>
          <p:cNvSpPr txBox="1"/>
          <p:nvPr>
            <p:ph idx="1" type="subTitle"/>
          </p:nvPr>
        </p:nvSpPr>
        <p:spPr>
          <a:xfrm>
            <a:off x="135589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3" type="subTitle"/>
          </p:nvPr>
        </p:nvSpPr>
        <p:spPr>
          <a:xfrm>
            <a:off x="3100296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 Medium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5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84" name="Google Shape;184;p36"/>
          <p:cNvPicPr preferRelativeResize="0"/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6"/>
          <p:cNvSpPr/>
          <p:nvPr>
            <p:ph idx="2" type="pic"/>
          </p:nvPr>
        </p:nvSpPr>
        <p:spPr>
          <a:xfrm>
            <a:off x="4634650" y="7375"/>
            <a:ext cx="4509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36"/>
          <p:cNvSpPr txBox="1"/>
          <p:nvPr>
            <p:ph type="title"/>
          </p:nvPr>
        </p:nvSpPr>
        <p:spPr>
          <a:xfrm>
            <a:off x="118775" y="390949"/>
            <a:ext cx="4395900" cy="21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3" type="body"/>
          </p:nvPr>
        </p:nvSpPr>
        <p:spPr>
          <a:xfrm>
            <a:off x="120975" y="3104000"/>
            <a:ext cx="4395900" cy="17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2">
  <p:cSld name="CUSTOM_2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90" name="Google Shape;190;p37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92" name="Google Shape;192;p37"/>
          <p:cNvSpPr/>
          <p:nvPr>
            <p:ph idx="2" type="pic"/>
          </p:nvPr>
        </p:nvSpPr>
        <p:spPr>
          <a:xfrm>
            <a:off x="0" y="3520300"/>
            <a:ext cx="9144000" cy="1623300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37"/>
          <p:cNvSpPr txBox="1"/>
          <p:nvPr>
            <p:ph type="title"/>
          </p:nvPr>
        </p:nvSpPr>
        <p:spPr>
          <a:xfrm>
            <a:off x="3812425" y="686469"/>
            <a:ext cx="5103000" cy="26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7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</a:defRPr>
            </a:lvl1pPr>
            <a:lvl2pPr lvl="1">
              <a:buNone/>
              <a:defRPr sz="800">
                <a:solidFill>
                  <a:schemeClr val="lt1"/>
                </a:solidFill>
              </a:defRPr>
            </a:lvl2pPr>
            <a:lvl3pPr lvl="2">
              <a:buNone/>
              <a:defRPr sz="800">
                <a:solidFill>
                  <a:schemeClr val="lt1"/>
                </a:solidFill>
              </a:defRPr>
            </a:lvl3pPr>
            <a:lvl4pPr lvl="3">
              <a:buNone/>
              <a:defRPr sz="800">
                <a:solidFill>
                  <a:schemeClr val="lt1"/>
                </a:solidFill>
              </a:defRPr>
            </a:lvl4pPr>
            <a:lvl5pPr lvl="4">
              <a:buNone/>
              <a:defRPr sz="800">
                <a:solidFill>
                  <a:schemeClr val="lt1"/>
                </a:solidFill>
              </a:defRPr>
            </a:lvl5pPr>
            <a:lvl6pPr lvl="5">
              <a:buNone/>
              <a:defRPr sz="800">
                <a:solidFill>
                  <a:schemeClr val="lt1"/>
                </a:solidFill>
              </a:defRPr>
            </a:lvl6pPr>
            <a:lvl7pPr lvl="6">
              <a:buNone/>
              <a:defRPr sz="800">
                <a:solidFill>
                  <a:schemeClr val="lt1"/>
                </a:solidFill>
              </a:defRPr>
            </a:lvl7pPr>
            <a:lvl8pPr lvl="7">
              <a:buNone/>
              <a:defRPr sz="800">
                <a:solidFill>
                  <a:schemeClr val="lt1"/>
                </a:solidFill>
              </a:defRPr>
            </a:lvl8pPr>
            <a:lvl9pPr lvl="8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 List">
  <p:cSld name="CUSTOM_2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197" name="Google Shape;197;p38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34" y="0"/>
            <a:ext cx="91439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8"/>
          <p:cNvSpPr/>
          <p:nvPr>
            <p:ph idx="2" type="pic"/>
          </p:nvPr>
        </p:nvSpPr>
        <p:spPr>
          <a:xfrm>
            <a:off x="367725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9" name="Google Shape;199;p38"/>
          <p:cNvSpPr/>
          <p:nvPr>
            <p:ph idx="3" type="pic"/>
          </p:nvPr>
        </p:nvSpPr>
        <p:spPr>
          <a:xfrm>
            <a:off x="2375900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0" name="Google Shape;200;p38"/>
          <p:cNvSpPr/>
          <p:nvPr>
            <p:ph idx="4" type="pic"/>
          </p:nvPr>
        </p:nvSpPr>
        <p:spPr>
          <a:xfrm>
            <a:off x="4510975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1" name="Google Shape;201;p38"/>
          <p:cNvSpPr/>
          <p:nvPr>
            <p:ph idx="5" type="pic"/>
          </p:nvPr>
        </p:nvSpPr>
        <p:spPr>
          <a:xfrm>
            <a:off x="6646050" y="2396400"/>
            <a:ext cx="230400" cy="230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2" name="Google Shape;202;p38"/>
          <p:cNvSpPr txBox="1"/>
          <p:nvPr>
            <p:ph idx="1" type="subTitle"/>
          </p:nvPr>
        </p:nvSpPr>
        <p:spPr>
          <a:xfrm>
            <a:off x="242125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8"/>
          <p:cNvSpPr txBox="1"/>
          <p:nvPr>
            <p:ph type="title"/>
          </p:nvPr>
        </p:nvSpPr>
        <p:spPr>
          <a:xfrm>
            <a:off x="240129" y="1008800"/>
            <a:ext cx="28521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4" name="Google Shape;204;p38"/>
          <p:cNvSpPr txBox="1"/>
          <p:nvPr>
            <p:ph idx="6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38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38"/>
          <p:cNvCxnSpPr>
            <a:stCxn id="207" idx="6"/>
            <a:endCxn id="208" idx="2"/>
          </p:cNvCxnSpPr>
          <p:nvPr/>
        </p:nvCxnSpPr>
        <p:spPr>
          <a:xfrm>
            <a:off x="598113" y="2512750"/>
            <a:ext cx="1777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38"/>
          <p:cNvSpPr/>
          <p:nvPr/>
        </p:nvSpPr>
        <p:spPr>
          <a:xfrm>
            <a:off x="367713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/>
          <p:nvPr/>
        </p:nvSpPr>
        <p:spPr>
          <a:xfrm>
            <a:off x="2375888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8"/>
          <p:cNvSpPr/>
          <p:nvPr/>
        </p:nvSpPr>
        <p:spPr>
          <a:xfrm>
            <a:off x="4510963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8"/>
          <p:cNvSpPr/>
          <p:nvPr/>
        </p:nvSpPr>
        <p:spPr>
          <a:xfrm>
            <a:off x="6646038" y="2397550"/>
            <a:ext cx="230400" cy="2304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" name="Google Shape;211;p38"/>
          <p:cNvCxnSpPr>
            <a:stCxn id="212" idx="3"/>
          </p:cNvCxnSpPr>
          <p:nvPr/>
        </p:nvCxnSpPr>
        <p:spPr>
          <a:xfrm>
            <a:off x="2606289" y="2511600"/>
            <a:ext cx="1904700" cy="1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38"/>
          <p:cNvCxnSpPr>
            <a:endCxn id="214" idx="1"/>
          </p:cNvCxnSpPr>
          <p:nvPr/>
        </p:nvCxnSpPr>
        <p:spPr>
          <a:xfrm>
            <a:off x="4741339" y="2511600"/>
            <a:ext cx="1904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38"/>
          <p:cNvCxnSpPr>
            <a:stCxn id="201" idx="6"/>
          </p:cNvCxnSpPr>
          <p:nvPr/>
        </p:nvCxnSpPr>
        <p:spPr>
          <a:xfrm>
            <a:off x="6876450" y="2511600"/>
            <a:ext cx="22677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38"/>
          <p:cNvSpPr txBox="1"/>
          <p:nvPr>
            <p:ph idx="7" type="body"/>
          </p:nvPr>
        </p:nvSpPr>
        <p:spPr>
          <a:xfrm>
            <a:off x="242125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17" name="Google Shape;217;p38"/>
          <p:cNvSpPr txBox="1"/>
          <p:nvPr>
            <p:ph idx="8" type="subTitle"/>
          </p:nvPr>
        </p:nvSpPr>
        <p:spPr>
          <a:xfrm>
            <a:off x="2371200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8"/>
          <p:cNvSpPr txBox="1"/>
          <p:nvPr>
            <p:ph idx="9" type="body"/>
          </p:nvPr>
        </p:nvSpPr>
        <p:spPr>
          <a:xfrm>
            <a:off x="2371200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19" name="Google Shape;219;p38"/>
          <p:cNvSpPr txBox="1"/>
          <p:nvPr>
            <p:ph idx="13" type="subTitle"/>
          </p:nvPr>
        </p:nvSpPr>
        <p:spPr>
          <a:xfrm>
            <a:off x="4514725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8"/>
          <p:cNvSpPr txBox="1"/>
          <p:nvPr>
            <p:ph idx="14" type="body"/>
          </p:nvPr>
        </p:nvSpPr>
        <p:spPr>
          <a:xfrm>
            <a:off x="4514725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21" name="Google Shape;221;p38"/>
          <p:cNvSpPr txBox="1"/>
          <p:nvPr>
            <p:ph idx="15" type="subTitle"/>
          </p:nvPr>
        </p:nvSpPr>
        <p:spPr>
          <a:xfrm>
            <a:off x="6658250" y="292647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6" type="body"/>
          </p:nvPr>
        </p:nvSpPr>
        <p:spPr>
          <a:xfrm>
            <a:off x="6658250" y="3498375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23" name="Google Shape;223;p38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3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25" name="Google Shape;225;p39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34" y="28353"/>
            <a:ext cx="914393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9"/>
          <p:cNvSpPr/>
          <p:nvPr>
            <p:ph idx="2" type="pic"/>
          </p:nvPr>
        </p:nvSpPr>
        <p:spPr>
          <a:xfrm>
            <a:off x="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9"/>
          <p:cNvSpPr/>
          <p:nvPr>
            <p:ph idx="3" type="pic"/>
          </p:nvPr>
        </p:nvSpPr>
        <p:spPr>
          <a:xfrm>
            <a:off x="2286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9"/>
          <p:cNvSpPr/>
          <p:nvPr>
            <p:ph idx="4" type="pic"/>
          </p:nvPr>
        </p:nvSpPr>
        <p:spPr>
          <a:xfrm>
            <a:off x="4572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39"/>
          <p:cNvSpPr/>
          <p:nvPr>
            <p:ph idx="5" type="pic"/>
          </p:nvPr>
        </p:nvSpPr>
        <p:spPr>
          <a:xfrm>
            <a:off x="6858000" y="0"/>
            <a:ext cx="2286000" cy="25719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9"/>
          <p:cNvSpPr txBox="1"/>
          <p:nvPr>
            <p:ph idx="1" type="subTitle"/>
          </p:nvPr>
        </p:nvSpPr>
        <p:spPr>
          <a:xfrm>
            <a:off x="127077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6" type="body"/>
          </p:nvPr>
        </p:nvSpPr>
        <p:spPr>
          <a:xfrm>
            <a:off x="127077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2" name="Google Shape;232;p39"/>
          <p:cNvSpPr txBox="1"/>
          <p:nvPr>
            <p:ph idx="7" type="subTitle"/>
          </p:nvPr>
        </p:nvSpPr>
        <p:spPr>
          <a:xfrm>
            <a:off x="2285997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8" type="body"/>
          </p:nvPr>
        </p:nvSpPr>
        <p:spPr>
          <a:xfrm>
            <a:off x="2285997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4" name="Google Shape;234;p39"/>
          <p:cNvSpPr txBox="1"/>
          <p:nvPr>
            <p:ph idx="9" type="subTitle"/>
          </p:nvPr>
        </p:nvSpPr>
        <p:spPr>
          <a:xfrm>
            <a:off x="4572000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9"/>
          <p:cNvSpPr txBox="1"/>
          <p:nvPr>
            <p:ph idx="13" type="body"/>
          </p:nvPr>
        </p:nvSpPr>
        <p:spPr>
          <a:xfrm>
            <a:off x="4572000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36" name="Google Shape;236;p39"/>
          <p:cNvSpPr txBox="1"/>
          <p:nvPr>
            <p:ph idx="14" type="subTitle"/>
          </p:nvPr>
        </p:nvSpPr>
        <p:spPr>
          <a:xfrm>
            <a:off x="6858000" y="2646325"/>
            <a:ext cx="1926900" cy="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None/>
              <a:defRPr sz="14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5" type="body"/>
          </p:nvPr>
        </p:nvSpPr>
        <p:spPr>
          <a:xfrm>
            <a:off x="6858000" y="2923102"/>
            <a:ext cx="2013300" cy="13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3">
  <p:cSld name="CUSTOM_4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39" name="Google Shape;239;p40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0"/>
          <p:cNvSpPr/>
          <p:nvPr>
            <p:ph idx="2" type="pic"/>
          </p:nvPr>
        </p:nvSpPr>
        <p:spPr>
          <a:xfrm>
            <a:off x="0" y="3517475"/>
            <a:ext cx="9144000" cy="16479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0"/>
          <p:cNvSpPr txBox="1"/>
          <p:nvPr>
            <p:ph idx="1" type="body"/>
          </p:nvPr>
        </p:nvSpPr>
        <p:spPr>
          <a:xfrm>
            <a:off x="5248661" y="1202375"/>
            <a:ext cx="2957100" cy="19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/>
            </a:lvl9pPr>
          </a:lstStyle>
          <a:p/>
        </p:txBody>
      </p:sp>
      <p:sp>
        <p:nvSpPr>
          <p:cNvPr id="242" name="Google Shape;242;p40"/>
          <p:cNvSpPr txBox="1"/>
          <p:nvPr>
            <p:ph idx="3" type="subTitle"/>
          </p:nvPr>
        </p:nvSpPr>
        <p:spPr>
          <a:xfrm>
            <a:off x="5254377" y="891877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40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40"/>
          <p:cNvSpPr txBox="1"/>
          <p:nvPr>
            <p:ph type="title"/>
          </p:nvPr>
        </p:nvSpPr>
        <p:spPr>
          <a:xfrm>
            <a:off x="113201" y="455384"/>
            <a:ext cx="4991100" cy="21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0"/>
              <a:buFont typeface="Work Sans"/>
              <a:buNone/>
              <a:defRPr sz="15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40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40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n Diagram">
  <p:cSld name="CUSTOM_5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48" name="Google Shape;248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1"/>
          <p:cNvSpPr/>
          <p:nvPr/>
        </p:nvSpPr>
        <p:spPr>
          <a:xfrm>
            <a:off x="1356825" y="688350"/>
            <a:ext cx="3766800" cy="3766800"/>
          </a:xfrm>
          <a:prstGeom prst="ellipse">
            <a:avLst/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/>
          <p:nvPr/>
        </p:nvSpPr>
        <p:spPr>
          <a:xfrm>
            <a:off x="4247675" y="688350"/>
            <a:ext cx="3766800" cy="3766800"/>
          </a:xfrm>
          <a:prstGeom prst="ellipse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1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1"/>
          <p:cNvSpPr txBox="1"/>
          <p:nvPr>
            <p:ph idx="2" type="subTitle"/>
          </p:nvPr>
        </p:nvSpPr>
        <p:spPr>
          <a:xfrm>
            <a:off x="1964575" y="1520100"/>
            <a:ext cx="2242200" cy="21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1"/>
          <p:cNvSpPr txBox="1"/>
          <p:nvPr>
            <p:ph idx="3" type="subTitle"/>
          </p:nvPr>
        </p:nvSpPr>
        <p:spPr>
          <a:xfrm>
            <a:off x="5130600" y="1520100"/>
            <a:ext cx="2242200" cy="210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latin typeface="Work Sans"/>
                <a:ea typeface="Work Sans"/>
                <a:cs typeface="Work Sans"/>
                <a:sym typeface="Work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41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CUSTOM_6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57" name="Google Shape;257;p42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2"/>
          <p:cNvSpPr txBox="1"/>
          <p:nvPr>
            <p:ph idx="1" type="subTitle"/>
          </p:nvPr>
        </p:nvSpPr>
        <p:spPr>
          <a:xfrm>
            <a:off x="117372" y="4391579"/>
            <a:ext cx="3600900" cy="5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2" type="subTitle"/>
          </p:nvPr>
        </p:nvSpPr>
        <p:spPr>
          <a:xfrm>
            <a:off x="5230775" y="861450"/>
            <a:ext cx="36738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Work Sans"/>
              <a:buNone/>
              <a:defRPr sz="18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42"/>
          <p:cNvSpPr txBox="1"/>
          <p:nvPr>
            <p:ph idx="3" type="body"/>
          </p:nvPr>
        </p:nvSpPr>
        <p:spPr>
          <a:xfrm>
            <a:off x="5247739" y="1336579"/>
            <a:ext cx="3566400" cy="22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9pPr>
          </a:lstStyle>
          <a:p/>
        </p:txBody>
      </p:sp>
      <p:sp>
        <p:nvSpPr>
          <p:cNvPr id="261" name="Google Shape;261;p42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2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42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rcle Chart">
  <p:cSld name="CUSTOM_7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65" name="Google Shape;265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3"/>
          <p:cNvSpPr/>
          <p:nvPr/>
        </p:nvSpPr>
        <p:spPr>
          <a:xfrm>
            <a:off x="2494000" y="1476600"/>
            <a:ext cx="3666900" cy="36669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3"/>
          <p:cNvSpPr/>
          <p:nvPr/>
        </p:nvSpPr>
        <p:spPr>
          <a:xfrm>
            <a:off x="6161000" y="1818450"/>
            <a:ext cx="2983200" cy="29832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3"/>
          <p:cNvSpPr/>
          <p:nvPr/>
        </p:nvSpPr>
        <p:spPr>
          <a:xfrm>
            <a:off x="0" y="2063100"/>
            <a:ext cx="2493900" cy="2493900"/>
          </a:xfrm>
          <a:prstGeom prst="ellipse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3"/>
          <p:cNvSpPr txBox="1"/>
          <p:nvPr>
            <p:ph type="title"/>
          </p:nvPr>
        </p:nvSpPr>
        <p:spPr>
          <a:xfrm>
            <a:off x="2494000" y="1476600"/>
            <a:ext cx="3673800" cy="366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3"/>
          <p:cNvSpPr txBox="1"/>
          <p:nvPr>
            <p:ph idx="2" type="title"/>
          </p:nvPr>
        </p:nvSpPr>
        <p:spPr>
          <a:xfrm>
            <a:off x="0" y="2063100"/>
            <a:ext cx="2493900" cy="249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43"/>
          <p:cNvSpPr txBox="1"/>
          <p:nvPr>
            <p:ph idx="3" type="title"/>
          </p:nvPr>
        </p:nvSpPr>
        <p:spPr>
          <a:xfrm>
            <a:off x="6161000" y="1818450"/>
            <a:ext cx="2983200" cy="29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>
            <p:ph idx="4" type="title"/>
          </p:nvPr>
        </p:nvSpPr>
        <p:spPr>
          <a:xfrm>
            <a:off x="80350" y="533050"/>
            <a:ext cx="5148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43"/>
          <p:cNvSpPr txBox="1"/>
          <p:nvPr>
            <p:ph idx="1" type="body"/>
          </p:nvPr>
        </p:nvSpPr>
        <p:spPr>
          <a:xfrm>
            <a:off x="5111325" y="489303"/>
            <a:ext cx="36669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Char char="■"/>
              <a:defRPr sz="1200"/>
            </a:lvl9pPr>
          </a:lstStyle>
          <a:p/>
        </p:txBody>
      </p:sp>
      <p:sp>
        <p:nvSpPr>
          <p:cNvPr id="274" name="Google Shape;274;p43"/>
          <p:cNvSpPr txBox="1"/>
          <p:nvPr>
            <p:ph idx="5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43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3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 4">
  <p:cSld name="CUSTOM_8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78" name="Google Shape;278;p44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4"/>
          <p:cNvSpPr/>
          <p:nvPr>
            <p:ph idx="2" type="pic"/>
          </p:nvPr>
        </p:nvSpPr>
        <p:spPr>
          <a:xfrm>
            <a:off x="6794500" y="0"/>
            <a:ext cx="2349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3108525" y="3747700"/>
            <a:ext cx="3549900" cy="11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Char char="■"/>
              <a:defRPr sz="800"/>
            </a:lvl9pPr>
          </a:lstStyle>
          <a:p/>
        </p:txBody>
      </p:sp>
      <p:sp>
        <p:nvSpPr>
          <p:cNvPr id="281" name="Google Shape;281;p44"/>
          <p:cNvSpPr txBox="1"/>
          <p:nvPr>
            <p:ph idx="3" type="subTitle"/>
          </p:nvPr>
        </p:nvSpPr>
        <p:spPr>
          <a:xfrm>
            <a:off x="117372" y="3520186"/>
            <a:ext cx="3600900" cy="58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Work Sans"/>
              <a:buNone/>
              <a:defRPr sz="12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44"/>
          <p:cNvSpPr txBox="1"/>
          <p:nvPr>
            <p:ph idx="4" type="body"/>
          </p:nvPr>
        </p:nvSpPr>
        <p:spPr>
          <a:xfrm>
            <a:off x="55300" y="41175"/>
            <a:ext cx="6603000" cy="32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and Statistics">
  <p:cSld name="CUSTOM_9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84" name="Google Shape;284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5"/>
          <p:cNvSpPr txBox="1"/>
          <p:nvPr>
            <p:ph type="title"/>
          </p:nvPr>
        </p:nvSpPr>
        <p:spPr>
          <a:xfrm>
            <a:off x="6658265" y="8412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5"/>
          <p:cNvSpPr txBox="1"/>
          <p:nvPr>
            <p:ph idx="1" type="subTitle"/>
          </p:nvPr>
        </p:nvSpPr>
        <p:spPr>
          <a:xfrm>
            <a:off x="6671415" y="13234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5"/>
          <p:cNvSpPr txBox="1"/>
          <p:nvPr>
            <p:ph idx="2" type="body"/>
          </p:nvPr>
        </p:nvSpPr>
        <p:spPr>
          <a:xfrm>
            <a:off x="2506950" y="883225"/>
            <a:ext cx="3866700" cy="27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Work Sans"/>
              <a:buChar char="■"/>
              <a:defRPr sz="1600"/>
            </a:lvl9pPr>
          </a:lstStyle>
          <a:p/>
        </p:txBody>
      </p:sp>
      <p:sp>
        <p:nvSpPr>
          <p:cNvPr id="288" name="Google Shape;288;p45"/>
          <p:cNvSpPr txBox="1"/>
          <p:nvPr>
            <p:ph idx="3" type="title"/>
          </p:nvPr>
        </p:nvSpPr>
        <p:spPr>
          <a:xfrm>
            <a:off x="101700" y="901050"/>
            <a:ext cx="2269500" cy="15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Work Sans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45"/>
          <p:cNvSpPr txBox="1"/>
          <p:nvPr>
            <p:ph idx="4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5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45"/>
          <p:cNvSpPr txBox="1"/>
          <p:nvPr>
            <p:ph idx="5" type="title"/>
          </p:nvPr>
        </p:nvSpPr>
        <p:spPr>
          <a:xfrm>
            <a:off x="6658265" y="18440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5"/>
          <p:cNvSpPr txBox="1"/>
          <p:nvPr>
            <p:ph idx="6" type="subTitle"/>
          </p:nvPr>
        </p:nvSpPr>
        <p:spPr>
          <a:xfrm>
            <a:off x="6671415" y="23262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5"/>
          <p:cNvSpPr txBox="1"/>
          <p:nvPr>
            <p:ph idx="7" type="title"/>
          </p:nvPr>
        </p:nvSpPr>
        <p:spPr>
          <a:xfrm>
            <a:off x="6658265" y="28468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45"/>
          <p:cNvSpPr txBox="1"/>
          <p:nvPr>
            <p:ph idx="8" type="subTitle"/>
          </p:nvPr>
        </p:nvSpPr>
        <p:spPr>
          <a:xfrm>
            <a:off x="6671415" y="33290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45"/>
          <p:cNvSpPr txBox="1"/>
          <p:nvPr>
            <p:ph idx="9" type="title"/>
          </p:nvPr>
        </p:nvSpPr>
        <p:spPr>
          <a:xfrm>
            <a:off x="6658265" y="3849609"/>
            <a:ext cx="20241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Work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45"/>
          <p:cNvSpPr txBox="1"/>
          <p:nvPr>
            <p:ph idx="13" type="subTitle"/>
          </p:nvPr>
        </p:nvSpPr>
        <p:spPr>
          <a:xfrm>
            <a:off x="6671415" y="4331809"/>
            <a:ext cx="200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None/>
              <a:defRPr sz="1100"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45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10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299" name="Google Shape;299;p46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6"/>
          <p:cNvSpPr txBox="1"/>
          <p:nvPr>
            <p:ph idx="1" type="subTitle"/>
          </p:nvPr>
        </p:nvSpPr>
        <p:spPr>
          <a:xfrm>
            <a:off x="117187" y="1032979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1" name="Google Shape;301;p46"/>
          <p:cNvSpPr txBox="1"/>
          <p:nvPr>
            <p:ph idx="2" type="body"/>
          </p:nvPr>
        </p:nvSpPr>
        <p:spPr>
          <a:xfrm>
            <a:off x="1062076" y="1050728"/>
            <a:ext cx="8000400" cy="36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514350" lvl="0" marL="4572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indent="-514350" lvl="1" marL="9144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2pPr>
            <a:lvl3pPr indent="-514350" lvl="2" marL="13716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3pPr>
            <a:lvl4pPr indent="-514350" lvl="3" marL="18288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4pPr>
            <a:lvl5pPr indent="-514350" lvl="4" marL="22860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5pPr>
            <a:lvl6pPr indent="-514350" lvl="5" marL="27432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6pPr>
            <a:lvl7pPr indent="-514350" lvl="6" marL="32004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●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7pPr>
            <a:lvl8pPr indent="-514350" lvl="7" marL="36576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○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8pPr>
            <a:lvl9pPr indent="-514350" lvl="8" marL="411480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Work Sans Medium"/>
              <a:buChar char="■"/>
              <a:defRPr sz="4500">
                <a:latin typeface="Work Sans Medium"/>
                <a:ea typeface="Work Sans Medium"/>
                <a:cs typeface="Work Sans Medium"/>
                <a:sym typeface="Work Sans Medium"/>
              </a:defRPr>
            </a:lvl9pPr>
          </a:lstStyle>
          <a:p/>
        </p:txBody>
      </p:sp>
      <p:sp>
        <p:nvSpPr>
          <p:cNvPr id="302" name="Google Shape;302;p46"/>
          <p:cNvSpPr txBox="1"/>
          <p:nvPr>
            <p:ph idx="3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46"/>
          <p:cNvSpPr txBox="1"/>
          <p:nvPr>
            <p:ph idx="4" type="subTitle"/>
          </p:nvPr>
        </p:nvSpPr>
        <p:spPr>
          <a:xfrm>
            <a:off x="117187" y="438391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46"/>
          <p:cNvSpPr txBox="1"/>
          <p:nvPr>
            <p:ph idx="5" type="subTitle"/>
          </p:nvPr>
        </p:nvSpPr>
        <p:spPr>
          <a:xfrm>
            <a:off x="117187" y="1511684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46"/>
          <p:cNvSpPr txBox="1"/>
          <p:nvPr>
            <p:ph idx="6" type="subTitle"/>
          </p:nvPr>
        </p:nvSpPr>
        <p:spPr>
          <a:xfrm>
            <a:off x="117187" y="1990389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46"/>
          <p:cNvSpPr txBox="1"/>
          <p:nvPr>
            <p:ph idx="7" type="subTitle"/>
          </p:nvPr>
        </p:nvSpPr>
        <p:spPr>
          <a:xfrm>
            <a:off x="117187" y="246909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46"/>
          <p:cNvSpPr txBox="1"/>
          <p:nvPr>
            <p:ph idx="8" type="subTitle"/>
          </p:nvPr>
        </p:nvSpPr>
        <p:spPr>
          <a:xfrm>
            <a:off x="117187" y="2947800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8" name="Google Shape;308;p46"/>
          <p:cNvSpPr txBox="1"/>
          <p:nvPr>
            <p:ph idx="9" type="subTitle"/>
          </p:nvPr>
        </p:nvSpPr>
        <p:spPr>
          <a:xfrm>
            <a:off x="117187" y="3426505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46"/>
          <p:cNvSpPr txBox="1"/>
          <p:nvPr>
            <p:ph idx="13" type="subTitle"/>
          </p:nvPr>
        </p:nvSpPr>
        <p:spPr>
          <a:xfrm>
            <a:off x="117187" y="3905210"/>
            <a:ext cx="9354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46"/>
          <p:cNvSpPr txBox="1"/>
          <p:nvPr>
            <p:ph type="title"/>
          </p:nvPr>
        </p:nvSpPr>
        <p:spPr>
          <a:xfrm>
            <a:off x="6060800" y="401925"/>
            <a:ext cx="2863800" cy="7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6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08">
          <p15:clr>
            <a:srgbClr val="E46962"/>
          </p15:clr>
        </p15:guide>
        <p15:guide id="2" orient="horz" pos="720">
          <p15:clr>
            <a:srgbClr val="E46962"/>
          </p15:clr>
        </p15:guide>
        <p15:guide id="3" orient="horz" pos="2827">
          <p15:clr>
            <a:srgbClr val="E46962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ll Quote">
  <p:cSld name="CUSTOM_1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14" name="Google Shape;314;p47"/>
          <p:cNvPicPr preferRelativeResize="0"/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7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47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7"/>
          <p:cNvSpPr txBox="1"/>
          <p:nvPr>
            <p:ph idx="2" type="body"/>
          </p:nvPr>
        </p:nvSpPr>
        <p:spPr>
          <a:xfrm>
            <a:off x="224364" y="1021700"/>
            <a:ext cx="7739700" cy="32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1pPr>
            <a:lvl2pPr indent="-457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2pPr>
            <a:lvl3pPr indent="-457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3pPr>
            <a:lvl4pPr indent="-457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4pPr>
            <a:lvl5pPr indent="-457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5pPr>
            <a:lvl6pPr indent="-457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6pPr>
            <a:lvl7pPr indent="-457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●"/>
              <a:defRPr sz="3600"/>
            </a:lvl7pPr>
            <a:lvl8pPr indent="-457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○"/>
              <a:defRPr sz="3600"/>
            </a:lvl8pPr>
            <a:lvl9pPr indent="-457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Char char="■"/>
              <a:defRPr sz="3600"/>
            </a:lvl9pPr>
          </a:lstStyle>
          <a:p/>
        </p:txBody>
      </p:sp>
      <p:sp>
        <p:nvSpPr>
          <p:cNvPr id="318" name="Google Shape;318;p47"/>
          <p:cNvSpPr txBox="1"/>
          <p:nvPr/>
        </p:nvSpPr>
        <p:spPr>
          <a:xfrm>
            <a:off x="234386" y="399350"/>
            <a:ext cx="35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Familjen Grotesk"/>
                <a:ea typeface="Familjen Grotesk"/>
                <a:cs typeface="Familjen Grotesk"/>
                <a:sym typeface="Familjen Grotesk"/>
              </a:rPr>
              <a:t>“</a:t>
            </a:r>
            <a:endParaRPr sz="4800">
              <a:solidFill>
                <a:schemeClr val="lt1"/>
              </a:solidFill>
              <a:latin typeface="Familjen Grotesk"/>
              <a:ea typeface="Familjen Grotesk"/>
              <a:cs typeface="Familjen Grotesk"/>
              <a:sym typeface="Familjen Grotesk"/>
            </a:endParaRPr>
          </a:p>
        </p:txBody>
      </p:sp>
      <p:sp>
        <p:nvSpPr>
          <p:cNvPr id="319" name="Google Shape;319;p47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s Phone + Tablet">
  <p:cSld name="CUSTOM_1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21" name="Google Shape;321;p48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8"/>
          <p:cNvSpPr/>
          <p:nvPr>
            <p:ph idx="2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8"/>
          <p:cNvSpPr/>
          <p:nvPr>
            <p:ph idx="3" type="pic"/>
          </p:nvPr>
        </p:nvSpPr>
        <p:spPr>
          <a:xfrm>
            <a:off x="3502638" y="866550"/>
            <a:ext cx="4531500" cy="3409500"/>
          </a:xfrm>
          <a:prstGeom prst="roundRect">
            <a:avLst>
              <a:gd fmla="val 4099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48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8"/>
          <p:cNvSpPr txBox="1"/>
          <p:nvPr>
            <p:ph idx="4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7" name="Google Shape;327;p48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3 Phones">
  <p:cSld name="CUSTOM_12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29" name="Google Shape;329;p49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49"/>
          <p:cNvSpPr/>
          <p:nvPr>
            <p:ph idx="2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9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3" name="Google Shape;333;p49"/>
          <p:cNvSpPr txBox="1"/>
          <p:nvPr>
            <p:ph idx="3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9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35" name="Google Shape;335;p49"/>
          <p:cNvSpPr/>
          <p:nvPr>
            <p:ph idx="4" type="pic"/>
          </p:nvPr>
        </p:nvSpPr>
        <p:spPr>
          <a:xfrm>
            <a:off x="3764988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49"/>
          <p:cNvSpPr/>
          <p:nvPr>
            <p:ph idx="5" type="pic"/>
          </p:nvPr>
        </p:nvSpPr>
        <p:spPr>
          <a:xfrm>
            <a:off x="642011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ockup Phone + Desktop">
  <p:cSld name="CUSTOM_13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bstract background." id="338" name="Google Shape;338;p50"/>
          <p:cNvPicPr preferRelativeResize="0"/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0" name="Google Shape;340;p50"/>
          <p:cNvSpPr/>
          <p:nvPr/>
        </p:nvSpPr>
        <p:spPr>
          <a:xfrm>
            <a:off x="5187043" y="3541650"/>
            <a:ext cx="1091100" cy="734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50"/>
          <p:cNvSpPr/>
          <p:nvPr>
            <p:ph idx="2" type="pic"/>
          </p:nvPr>
        </p:nvSpPr>
        <p:spPr>
          <a:xfrm>
            <a:off x="3417343" y="934850"/>
            <a:ext cx="4630500" cy="2606700"/>
          </a:xfrm>
          <a:prstGeom prst="roundRect">
            <a:avLst>
              <a:gd fmla="val 1120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50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Work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3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</a:defRPr>
            </a:lvl1pPr>
            <a:lvl2pPr lvl="1" rtl="0">
              <a:buNone/>
              <a:defRPr sz="800">
                <a:solidFill>
                  <a:schemeClr val="lt1"/>
                </a:solidFill>
              </a:defRPr>
            </a:lvl2pPr>
            <a:lvl3pPr lvl="2" rtl="0">
              <a:buNone/>
              <a:defRPr sz="800">
                <a:solidFill>
                  <a:schemeClr val="lt1"/>
                </a:solidFill>
              </a:defRPr>
            </a:lvl3pPr>
            <a:lvl4pPr lvl="3" rtl="0">
              <a:buNone/>
              <a:defRPr sz="800">
                <a:solidFill>
                  <a:schemeClr val="lt1"/>
                </a:solidFill>
              </a:defRPr>
            </a:lvl4pPr>
            <a:lvl5pPr lvl="4" rtl="0">
              <a:buNone/>
              <a:defRPr sz="800">
                <a:solidFill>
                  <a:schemeClr val="lt1"/>
                </a:solidFill>
              </a:defRPr>
            </a:lvl5pPr>
            <a:lvl6pPr lvl="5" rtl="0">
              <a:buNone/>
              <a:defRPr sz="800">
                <a:solidFill>
                  <a:schemeClr val="lt1"/>
                </a:solidFill>
              </a:defRPr>
            </a:lvl6pPr>
            <a:lvl7pPr lvl="6" rtl="0">
              <a:buNone/>
              <a:defRPr sz="800">
                <a:solidFill>
                  <a:schemeClr val="lt1"/>
                </a:solidFill>
              </a:defRPr>
            </a:lvl7pPr>
            <a:lvl8pPr lvl="7" rtl="0">
              <a:buNone/>
              <a:defRPr sz="800">
                <a:solidFill>
                  <a:schemeClr val="lt1"/>
                </a:solidFill>
              </a:defRPr>
            </a:lvl8pPr>
            <a:lvl9pPr lvl="8" rtl="0">
              <a:buNone/>
              <a:defRPr sz="8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0"/>
          <p:cNvSpPr txBox="1"/>
          <p:nvPr/>
        </p:nvSpPr>
        <p:spPr>
          <a:xfrm>
            <a:off x="3821975" y="98779"/>
            <a:ext cx="426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PRESENTATION NAME</a:t>
            </a:r>
            <a:endParaRPr sz="8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45" name="Google Shape;345;p50"/>
          <p:cNvSpPr/>
          <p:nvPr>
            <p:ph idx="4" type="pic"/>
          </p:nvPr>
        </p:nvSpPr>
        <p:spPr>
          <a:xfrm>
            <a:off x="1109863" y="867000"/>
            <a:ext cx="1614000" cy="3409500"/>
          </a:xfrm>
          <a:prstGeom prst="roundRect">
            <a:avLst>
              <a:gd fmla="val 82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43.xml"/><Relationship Id="rId33" Type="http://schemas.openxmlformats.org/officeDocument/2006/relationships/slideLayout" Target="../slideLayouts/slideLayout44.xml"/><Relationship Id="rId34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46.xml"/><Relationship Id="rId36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48.xml"/><Relationship Id="rId3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lvl="2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lvl="3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lvl="4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lvl="5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lvl="6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lvl="7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lvl="8" algn="r">
              <a:buNone/>
              <a:defRPr sz="1300">
                <a:solidFill>
                  <a:schemeClr val="tx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23475"/>
            <a:ext cx="8686800" cy="23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Work Sans"/>
              <a:buNone/>
              <a:defRPr sz="72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Work Sans"/>
              <a:buNone/>
              <a:defRPr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228600" y="2909450"/>
            <a:ext cx="868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●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○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Work Sans"/>
              <a:buChar char="■"/>
              <a:defRPr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19">
          <p15:clr>
            <a:srgbClr val="E46962"/>
          </p15:clr>
        </p15:guide>
        <p15:guide id="2" pos="593">
          <p15:clr>
            <a:srgbClr val="E46962"/>
          </p15:clr>
        </p15:guide>
        <p15:guide id="3" pos="669">
          <p15:clr>
            <a:srgbClr val="E46962"/>
          </p15:clr>
        </p15:guide>
        <p15:guide id="4" pos="1044">
          <p15:clr>
            <a:srgbClr val="E46962"/>
          </p15:clr>
        </p15:guide>
        <p15:guide id="5" pos="1119">
          <p15:clr>
            <a:srgbClr val="E46962"/>
          </p15:clr>
        </p15:guide>
        <p15:guide id="6" pos="1494">
          <p15:clr>
            <a:srgbClr val="E46962"/>
          </p15:clr>
        </p15:guide>
        <p15:guide id="7" pos="1569">
          <p15:clr>
            <a:srgbClr val="E46962"/>
          </p15:clr>
        </p15:guide>
        <p15:guide id="8" pos="1944">
          <p15:clr>
            <a:srgbClr val="E46962"/>
          </p15:clr>
        </p15:guide>
        <p15:guide id="9" pos="2019">
          <p15:clr>
            <a:srgbClr val="E46962"/>
          </p15:clr>
        </p15:guide>
        <p15:guide id="10" pos="2394">
          <p15:clr>
            <a:srgbClr val="E46962"/>
          </p15:clr>
        </p15:guide>
        <p15:guide id="11" pos="2469">
          <p15:clr>
            <a:srgbClr val="E46962"/>
          </p15:clr>
        </p15:guide>
        <p15:guide id="12" pos="2844">
          <p15:clr>
            <a:srgbClr val="E46962"/>
          </p15:clr>
        </p15:guide>
        <p15:guide id="13" pos="2919">
          <p15:clr>
            <a:srgbClr val="E46962"/>
          </p15:clr>
        </p15:guide>
        <p15:guide id="14" pos="3294">
          <p15:clr>
            <a:srgbClr val="E46962"/>
          </p15:clr>
        </p15:guide>
        <p15:guide id="15" pos="3370">
          <p15:clr>
            <a:srgbClr val="E46962"/>
          </p15:clr>
        </p15:guide>
        <p15:guide id="16" pos="3744">
          <p15:clr>
            <a:srgbClr val="E46962"/>
          </p15:clr>
        </p15:guide>
        <p15:guide id="17" pos="3820">
          <p15:clr>
            <a:srgbClr val="E46962"/>
          </p15:clr>
        </p15:guide>
        <p15:guide id="18" pos="4194">
          <p15:clr>
            <a:srgbClr val="E46962"/>
          </p15:clr>
        </p15:guide>
        <p15:guide id="19" pos="4270">
          <p15:clr>
            <a:srgbClr val="E46962"/>
          </p15:clr>
        </p15:guide>
        <p15:guide id="20" pos="4644">
          <p15:clr>
            <a:srgbClr val="E46962"/>
          </p15:clr>
        </p15:guide>
        <p15:guide id="21" pos="4720">
          <p15:clr>
            <a:srgbClr val="E46962"/>
          </p15:clr>
        </p15:guide>
        <p15:guide id="22" pos="5094">
          <p15:clr>
            <a:srgbClr val="E46962"/>
          </p15:clr>
        </p15:guide>
        <p15:guide id="23" pos="5170">
          <p15:clr>
            <a:srgbClr val="E46962"/>
          </p15:clr>
        </p15:guide>
        <p15:guide id="24" pos="5544">
          <p15:clr>
            <a:srgbClr val="E46962"/>
          </p15:clr>
        </p15:guide>
        <p15:guide id="25" orient="horz" pos="141">
          <p15:clr>
            <a:srgbClr val="E46962"/>
          </p15:clr>
        </p15:guide>
        <p15:guide id="26" orient="horz" pos="3061">
          <p15:clr>
            <a:srgbClr val="E46962"/>
          </p15:clr>
        </p15:guide>
        <p15:guide id="27" pos="144">
          <p15:clr>
            <a:srgbClr val="E46962"/>
          </p15:clr>
        </p15:guide>
        <p15:guide id="28" pos="5616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1"/>
          <p:cNvSpPr txBox="1"/>
          <p:nvPr>
            <p:ph type="title"/>
          </p:nvPr>
        </p:nvSpPr>
        <p:spPr>
          <a:xfrm>
            <a:off x="80350" y="102275"/>
            <a:ext cx="8835000" cy="26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ALERTLENS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 TRIAGE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By: Ethan Le, </a:t>
            </a:r>
            <a:endParaRPr sz="3600"/>
          </a:p>
        </p:txBody>
      </p:sp>
      <p:pic>
        <p:nvPicPr>
          <p:cNvPr descr="Row of wind turbines." id="351" name="Google Shape;351;p5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716" l="0" r="0" t="65232"/>
          <a:stretch/>
        </p:blipFill>
        <p:spPr>
          <a:xfrm>
            <a:off x="0" y="2936025"/>
            <a:ext cx="9144003" cy="1343999"/>
          </a:xfrm>
          <a:prstGeom prst="rect">
            <a:avLst/>
          </a:prstGeom>
        </p:spPr>
      </p:pic>
      <p:sp>
        <p:nvSpPr>
          <p:cNvPr id="352" name="Google Shape;352;p51"/>
          <p:cNvSpPr txBox="1"/>
          <p:nvPr>
            <p:ph idx="1" type="subTitle"/>
          </p:nvPr>
        </p:nvSpPr>
        <p:spPr>
          <a:xfrm>
            <a:off x="135589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10.12.26</a:t>
            </a:r>
            <a:r>
              <a:rPr lang="en"/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AIC × CROWDSTRIKE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>HACKATHON</a:t>
            </a:r>
            <a:endParaRPr/>
          </a:p>
        </p:txBody>
      </p:sp>
      <p:sp>
        <p:nvSpPr>
          <p:cNvPr id="353" name="Google Shape;353;p51"/>
          <p:cNvSpPr txBox="1"/>
          <p:nvPr>
            <p:ph idx="3" type="subTitle"/>
          </p:nvPr>
        </p:nvSpPr>
        <p:spPr>
          <a:xfrm>
            <a:off x="3100296" y="4400125"/>
            <a:ext cx="2137500" cy="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TRACK 2 · DETECT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AI-POWERED BLUE TEAM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51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118872" y="411480"/>
            <a:ext cx="8869680" cy="9601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sz="2600"/>
              <a:t>About Our Project</a:t>
            </a:r>
            <a:endParaRPr/>
          </a:p>
          <a:p>
            <a:r>
              <a:rPr sz="1300"/>
              <a:t>Track 2 · Detect: an AI blue-team assistant that turns millions of security alerts into a few explained incidents.</a:t>
            </a:r>
          </a:p>
        </p:txBody>
      </p:sp>
      <p:sp>
        <p:nvSpPr>
          <p:cNvPr id="361" name="Google Shape;361;p52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· AIC × CROWDSTRIKE · TRACK 2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Input: 2.66M alerts from Wazuh, Suricata and AMiner (AIT-ADS, 8 networks)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Output: ranked incidents with reasons, MITRE stages and an analyst report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Runs locally: no telemetry leaves the SOC</a:t>
            </a:r>
          </a:p>
        </p:txBody>
      </p:sp>
      <p:pic>
        <p:nvPicPr>
          <p:cNvPr id="363" name="Picture 362" descr="dashboard_incid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52" y="1508760"/>
            <a:ext cx="4932655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3"/>
          <p:cNvSpPr txBox="1"/>
          <p:nvPr>
            <p:ph type="title"/>
          </p:nvPr>
        </p:nvSpPr>
        <p:spPr>
          <a:xfrm>
            <a:off x="118872" y="411480"/>
            <a:ext cx="8869680" cy="9601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sz="2600"/>
              <a:t>The Problem</a:t>
            </a:r>
            <a:endParaRPr/>
          </a:p>
          <a:p>
            <a:r>
              <a:rPr sz="1300"/>
              <a:t>Security teams drown in alerts. The real attack is a tiny fraction of the noise.</a:t>
            </a:r>
          </a:p>
        </p:txBody>
      </p:sp>
      <p:sp>
        <p:nvSpPr>
          <p:cNvPr id="369" name="Google Shape;369;p53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· AIC × CROWDSTRIKE · TRACK 2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2.66M alerts; only 450 of 99K alert groups are the attack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Analysts cannot read them all, so real attacks get missed (alert fatigue)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Hackers hide inside this noise</a:t>
            </a:r>
          </a:p>
        </p:txBody>
      </p:sp>
      <p:pic>
        <p:nvPicPr>
          <p:cNvPr id="371" name="Picture 370" descr="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144619"/>
            <a:ext cx="5806440" cy="21572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4"/>
          <p:cNvSpPr txBox="1"/>
          <p:nvPr>
            <p:ph type="title"/>
          </p:nvPr>
        </p:nvSpPr>
        <p:spPr>
          <a:xfrm>
            <a:off x="118872" y="411480"/>
            <a:ext cx="8869680" cy="9601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sz="2600"/>
              <a:t>Our Solution</a:t>
            </a:r>
            <a:endParaRPr/>
          </a:p>
          <a:p>
            <a:r>
              <a:rPr sz="1300"/>
              <a:t>AlertLens shrinks 2.66M alerts to 13 ranked incidents and explains each one.</a:t>
            </a:r>
          </a:p>
        </p:txBody>
      </p:sp>
      <p:sp>
        <p:nvSpPr>
          <p:cNvPr id="376" name="Google Shape;376;p54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· AIC × CROWDSTRIKE · TRACK 2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Merge duplicates into 99K meta-alerts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Machine learning flags 451; 91% of them are the real attack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Chain them into 13 incidents: #1 is the real attack in 8 of 8 networks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Threat hunt: unsupervised hunting over raw logs</a:t>
            </a:r>
          </a:p>
        </p:txBody>
      </p:sp>
      <p:pic>
        <p:nvPicPr>
          <p:cNvPr id="378" name="Picture 377" descr="fu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217885"/>
            <a:ext cx="5806440" cy="20107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5"/>
          <p:cNvSpPr txBox="1"/>
          <p:nvPr>
            <p:ph type="title"/>
          </p:nvPr>
        </p:nvSpPr>
        <p:spPr>
          <a:xfrm>
            <a:off x="118872" y="411480"/>
            <a:ext cx="8869680" cy="9601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sz="2600"/>
              <a:t>How It Works</a:t>
            </a:r>
            <a:endParaRPr/>
          </a:p>
          <a:p>
            <a:r>
              <a:rPr sz="1300"/>
              <a:t>The model learns what attacker behaviour looks like from context features, computed from past alerts only.</a:t>
            </a:r>
          </a:p>
        </p:txBody>
      </p:sp>
      <p:sp>
        <p:nvSpPr>
          <p:cNvPr id="383" name="Google Shape;383;p55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· AIC × CROWDSTRIKE · TRACK 2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Rarity and novelty: first time a rule, IP or account is seen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Bursts and several sensors firing within 10 minutes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Attacker vs. admin hints in raw logs (www-data, /etc/shadow, scanners)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LightGBM, 5-seed ensemble</a:t>
            </a:r>
          </a:p>
        </p:txBody>
      </p:sp>
      <p:pic>
        <p:nvPicPr>
          <p:cNvPr id="385" name="Picture 384" descr="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419376"/>
            <a:ext cx="5806439" cy="1607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6"/>
          <p:cNvSpPr txBox="1"/>
          <p:nvPr>
            <p:ph type="title"/>
          </p:nvPr>
        </p:nvSpPr>
        <p:spPr>
          <a:xfrm>
            <a:off x="118775" y="390949"/>
            <a:ext cx="4395900" cy="21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Our Video:</a:t>
            </a:r>
            <a:endParaRPr/>
          </a:p>
        </p:txBody>
      </p:sp>
      <p:sp>
        <p:nvSpPr>
          <p:cNvPr id="390" name="Google Shape;390;p56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ALERTLENS · AIC × CROWDSTRIKE · TRACK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7"/>
          <p:cNvSpPr txBox="1"/>
          <p:nvPr>
            <p:ph type="title"/>
          </p:nvPr>
        </p:nvSpPr>
        <p:spPr>
          <a:xfrm>
            <a:off x="118872" y="411480"/>
            <a:ext cx="8869680" cy="9601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sz="2600"/>
              <a:t>Results and Evaluation</a:t>
            </a:r>
            <a:endParaRPr/>
          </a:p>
          <a:p>
            <a:r>
              <a:rPr sz="1300"/>
              <a:t>Averaged over 8 unseen networks, AlertLens beats common approaches by a wide margin.</a:t>
            </a:r>
          </a:p>
        </p:txBody>
      </p:sp>
      <p:sp>
        <p:nvSpPr>
          <p:cNvPr id="397" name="Google Shape;397;p57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· AIC × CROWDSTRIKE · TRACK 2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PR-AUC 0.96 vs. 0.37 Isolation Forest, 0.14 rarity, 0.01 Wazuh severity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Top 20 alerts: 100% are real attack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Catch 90% of the attack: 64 items to review instead of 12,017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Attack stage predicted correctly 90% of the time</a:t>
            </a:r>
          </a:p>
        </p:txBody>
      </p:sp>
      <p:pic>
        <p:nvPicPr>
          <p:cNvPr id="399" name="Picture 398" descr="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327690"/>
            <a:ext cx="5806440" cy="17911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8"/>
          <p:cNvSpPr txBox="1"/>
          <p:nvPr>
            <p:ph type="title"/>
          </p:nvPr>
        </p:nvSpPr>
        <p:spPr>
          <a:xfrm>
            <a:off x="118872" y="411480"/>
            <a:ext cx="8869680" cy="9601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sz="2600"/>
              <a:t>Real World Impact</a:t>
            </a:r>
            <a:endParaRPr/>
          </a:p>
          <a:p>
            <a:r>
              <a:rPr sz="1300"/>
              <a:t>Analysts review about 64 items instead of 12,000 and still catch 90% of the attack.</a:t>
            </a:r>
          </a:p>
        </p:txBody>
      </p:sp>
      <p:sp>
        <p:nvSpPr>
          <p:cNvPr id="404" name="Google Shape;404;p58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· AIC × CROWDSTRIKE · TRACK 2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Hides 99.91% of benign meta-alerts at 90% attack recall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Normal admin work is explained as benign, not escalated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Private: model and LLM run on-premises, no data leaves the SOC</a:t>
            </a:r>
          </a:p>
        </p:txBody>
      </p:sp>
      <p:pic>
        <p:nvPicPr>
          <p:cNvPr id="406" name="Picture 405" descr="shap_adm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59" y="2087899"/>
            <a:ext cx="5806440" cy="22707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118872" y="411480"/>
            <a:ext cx="8869680" cy="9601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sz="2600"/>
              <a:t>Why Our Product Wins</a:t>
            </a:r>
            <a:endParaRPr/>
          </a:p>
          <a:p>
            <a:r>
              <a:rPr sz="1300"/>
              <a:t>Accurate, explainable, tested on unseen networks, and private.</a:t>
            </a:r>
          </a:p>
        </p:txBody>
      </p:sp>
      <p:sp>
        <p:nvSpPr>
          <p:cNvPr id="411" name="Google Shape;411;p59"/>
          <p:cNvSpPr txBox="1"/>
          <p:nvPr>
            <p:ph idx="1" type="subTitle"/>
          </p:nvPr>
        </p:nvSpPr>
        <p:spPr>
          <a:xfrm>
            <a:off x="126525" y="95069"/>
            <a:ext cx="36738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ALERTLENS · AIC × CROWDSTRIKE · TRACK 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Behaviour matters: PR-AUC 0.49 from rule meaning alone, 0.96 with context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Every score has reasons, every incident has a story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End to end: raw logs to analyst report in one dashboard</a:t>
            </a:r>
          </a:p>
        </p:txBody>
      </p:sp>
      <p:pic>
        <p:nvPicPr>
          <p:cNvPr id="413" name="Picture 412" descr="ab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2243799"/>
            <a:ext cx="5806440" cy="1958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80350" y="102275"/>
            <a:ext cx="7292400" cy="414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LISTENING!</a:t>
            </a:r>
            <a:endParaRPr/>
          </a:p>
        </p:txBody>
      </p:sp>
      <p:sp>
        <p:nvSpPr>
          <p:cNvPr id="417" name="Google Shape;417;p60"/>
          <p:cNvSpPr txBox="1"/>
          <p:nvPr>
            <p:ph idx="12" type="sldNum"/>
          </p:nvPr>
        </p:nvSpPr>
        <p:spPr>
          <a:xfrm>
            <a:off x="8464825" y="88851"/>
            <a:ext cx="548700" cy="3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8872" y="411480"/>
            <a:ext cx="8869680" cy="960120"/>
          </a:xfrm>
        </p:spPr>
        <p:txBody>
          <a:bodyPr wrap="square" anchor="t"/>
          <a:lstStyle/>
          <a:p>
            <a:r>
              <a:rPr sz="2600"/>
              <a:t>Severity Is Not Enough</a:t>
            </a:r>
          </a:p>
          <a:p>
            <a:r>
              <a:rPr sz="1300"/>
              <a:t>Attack alerts and normal alerts get the same severity levels, so sorting by severity does not find the attack.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ALERTLENS · AIC × CROWDSTRIKE ·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Wazuh severity ranks the attack worse than random (ROC-AUC 0.41)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By severity: about 12,017 items to review to catch 90% of the attack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We need context: what is normal for this network?</a:t>
            </a:r>
          </a:p>
        </p:txBody>
      </p:sp>
      <p:pic>
        <p:nvPicPr>
          <p:cNvPr id="6" name="Picture 5" descr="seve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861696"/>
            <a:ext cx="5806440" cy="27231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8872" y="411480"/>
            <a:ext cx="8869680" cy="960120"/>
          </a:xfrm>
        </p:spPr>
        <p:txBody>
          <a:bodyPr wrap="square" anchor="t"/>
          <a:lstStyle/>
          <a:p>
            <a:r>
              <a:rPr sz="2600"/>
              <a:t>Tested On Unseen Networks</a:t>
            </a:r>
          </a:p>
          <a:p>
            <a:r>
              <a:rPr sz="1300"/>
              <a:t>We train on 7 networks and test on the 8th, rotating through all 8 (leave-one-network-out).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ALERTLENS · AIC × CROWDSTRIKE ·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Every score comes from a model that never saw that network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Like deploying to a brand-new customer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No peeking at the future: features use only earlier alerts</a:t>
            </a:r>
          </a:p>
        </p:txBody>
      </p:sp>
      <p:pic>
        <p:nvPicPr>
          <p:cNvPr id="6" name="Picture 5" descr="lo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41" y="1508760"/>
            <a:ext cx="448407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8872" y="411480"/>
            <a:ext cx="8869680" cy="960120"/>
          </a:xfrm>
        </p:spPr>
        <p:txBody>
          <a:bodyPr wrap="square" anchor="t"/>
          <a:lstStyle/>
          <a:p>
            <a:r>
              <a:rPr sz="2600"/>
              <a:t>Explainable Scores</a:t>
            </a:r>
          </a:p>
          <a:p>
            <a:r>
              <a:rPr sz="1300"/>
              <a:t>Every alert gets plain-English reasons (SHAP): which signals pushed its score up or down.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ALERTLENS · AIC × CROWDSTRIKE ·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Example: www-data switching to user gmorgan, a first-time event, is scored as attack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Analysts see why, not just a number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Mark a false positive once and it is suppressed on that host</a:t>
            </a:r>
          </a:p>
        </p:txBody>
      </p:sp>
      <p:pic>
        <p:nvPicPr>
          <p:cNvPr id="6" name="Picture 5" descr="shap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160605"/>
            <a:ext cx="5806440" cy="21253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8872" y="411480"/>
            <a:ext cx="8869680" cy="960120"/>
          </a:xfrm>
        </p:spPr>
        <p:txBody>
          <a:bodyPr wrap="square" anchor="t"/>
          <a:lstStyle/>
          <a:p>
            <a:r>
              <a:rPr sz="2600"/>
              <a:t>The Attack Story</a:t>
            </a:r>
          </a:p>
          <a:p>
            <a:r>
              <a:rPr sz="1300"/>
              <a:t>Flagged alerts are chained into an incident timeline with kill-chain stages and MITRE ATT&amp;CK techniques.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ALERTLENS · AIC × CROWDSTRIKE ·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508760"/>
            <a:ext cx="28803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From reconnaissance to webshell upload to privilege escalation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A local LLM (qwen3:14b via Ollama) writes the report and answers questions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F4F4F4"/>
                </a:solidFill>
              </a:rPr>
              <a:t>• Confidence HIGH only with high risk and 2+ attack stages</a:t>
            </a:r>
          </a:p>
        </p:txBody>
      </p:sp>
      <p:pic>
        <p:nvPicPr>
          <p:cNvPr id="6" name="Picture 5" descr="kill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2123146"/>
            <a:ext cx="5806440" cy="22002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ference Event Presentation">
  <a:themeElements>
    <a:clrScheme name="Simple Light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66666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